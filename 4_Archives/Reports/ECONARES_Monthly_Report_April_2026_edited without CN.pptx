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Contacts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8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4BC-4279-AD83-49D228317F48}"/>
              </c:ext>
            </c:extLst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BC-4279-AD83-49D228317F48}"/>
              </c:ext>
            </c:extLst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4BC-4279-AD83-49D228317F48}"/>
              </c:ext>
            </c:extLst>
          </c:dPt>
          <c:dPt>
            <c:idx val="3"/>
            <c:bubble3D val="0"/>
            <c:spPr>
              <a:solidFill>
                <a:srgbClr val="4B5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4BC-4279-AD83-49D228317F48}"/>
              </c:ext>
            </c:extLst>
          </c:dPt>
          <c:dPt>
            <c:idx val="4"/>
            <c:bubble3D val="0"/>
            <c:spPr>
              <a:solidFill>
                <a:srgbClr val="D1D5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4BC-4279-AD83-49D228317F4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4BC-4279-AD83-49D228317F4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4BC-4279-AD83-49D228317F4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4BC-4279-AD83-49D228317F4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4BC-4279-AD83-49D228317F4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4BC-4279-AD83-49D228317F4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Commodity Trading</c:v>
                </c:pt>
                <c:pt idx="1">
                  <c:v>Power Plants</c:v>
                </c:pt>
                <c:pt idx="2">
                  <c:v>Cement</c:v>
                </c:pt>
                <c:pt idx="3">
                  <c:v>Mining</c:v>
                </c:pt>
                <c:pt idx="4">
                  <c:v>Renewables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23</c:v>
                </c:pt>
                <c:pt idx="2">
                  <c:v>10</c:v>
                </c:pt>
                <c:pt idx="3">
                  <c:v>5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4BC-4279-AD83-49D228317F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Value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Goodfound</c:v>
                </c:pt>
                <c:pt idx="1">
                  <c:v>Republic</c:v>
                </c:pt>
                <c:pt idx="2">
                  <c:v>Mabuhay</c:v>
                </c:pt>
                <c:pt idx="3">
                  <c:v>Philcement</c:v>
                </c:pt>
                <c:pt idx="4">
                  <c:v>Suprea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360</c:v>
                </c:pt>
                <c:pt idx="1">
                  <c:v>360</c:v>
                </c:pt>
                <c:pt idx="2">
                  <c:v>360</c:v>
                </c:pt>
                <c:pt idx="3">
                  <c:v>360</c:v>
                </c:pt>
                <c:pt idx="4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29-442D-B2D1-A9DDA69C71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8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PH" sz="800" b="0" i="0" u="none" strike="noStrike">
                <a:solidFill>
                  <a:srgbClr val="0D1B2A"/>
                </a:solidFill>
                <a:latin typeface="Arial"/>
              </a:rPr>
              <a:t>PIPELINE BREAKDOWN ($M)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457-4250-B807-5DEB5CB5E49B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57-4250-B807-5DEB5CB5E49B}"/>
              </c:ext>
            </c:extLst>
          </c:dPt>
          <c:dPt>
            <c:idx val="2"/>
            <c:bubble3D val="0"/>
            <c:spPr>
              <a:solidFill>
                <a:srgbClr val="D4A8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457-4250-B807-5DEB5CB5E49B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457-4250-B807-5DEB5CB5E49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457-4250-B807-5DEB5CB5E49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457-4250-B807-5DEB5CB5E49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457-4250-B807-5DEB5CB5E49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457-4250-B807-5DEB5CB5E49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Nickel Ore</c:v>
                </c:pt>
                <c:pt idx="1">
                  <c:v>Diesel</c:v>
                </c:pt>
                <c:pt idx="2">
                  <c:v>Copper</c:v>
                </c:pt>
                <c:pt idx="3">
                  <c:v>Coal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1.8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57-4250-B807-5DEB5CB5E4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482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ECONARES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&amp; RESOURCES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4747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SALES REPORT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Division — Sales &amp; Marketing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3474720" cy="1097280"/>
          </a:xfrm>
          <a:prstGeom prst="rect">
            <a:avLst/>
          </a:prstGeom>
          <a:solidFill>
            <a:srgbClr val="1B263B"/>
          </a:solidFill>
          <a:ln w="12700">
            <a:solidFill>
              <a:srgbClr val="2D4A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" y="3493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Reymarr Zamora Hijara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749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Marketing Officer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39319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rzh24.econares@gmail.com  |  +63 927 872 5194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7920" y="731520"/>
            <a:ext cx="3840480" cy="3840480"/>
          </a:xfrm>
          <a:prstGeom prst="ellipse">
            <a:avLst/>
          </a:prstGeom>
          <a:solidFill>
            <a:srgbClr val="1B263B">
              <a:alpha val="45000"/>
            </a:srgbClr>
          </a:solidFill>
          <a:ln w="25400">
            <a:solidFill>
              <a:srgbClr val="2D4A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188720"/>
            <a:ext cx="2926080" cy="2926080"/>
          </a:xfrm>
          <a:prstGeom prst="ellipse">
            <a:avLst/>
          </a:prstGeom>
          <a:solidFill>
            <a:srgbClr val="0D9488">
              <a:alpha val="18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148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 — Key Metrics at a Glance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20116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618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Contacts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24328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24328" y="1115568"/>
            <a:ext cx="2011680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12618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715768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Companies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to CRM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91456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91456" y="1115568"/>
            <a:ext cx="2011680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12618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882896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Plants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58584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58584" y="1115568"/>
            <a:ext cx="201168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2618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050024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Pipeline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70048"/>
            <a:ext cx="82296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670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PIPELINE VALUE: </a:t>
            </a:r>
            <a:r>
              <a:rPr lang="en-US" sz="95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$35M+ </a:t>
            </a: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Nickel: $30M  |  Diesel: ~$1.8M  |  Copper: $5M  |  Coal: Identified (outreach pending)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ACCOMPLISHMENTS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39312"/>
            <a:ext cx="64008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639312"/>
            <a:ext cx="1828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Plant Research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68880" y="3639312"/>
            <a:ext cx="3017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Philippine power plants profiled — coal, PKS, and woodchips segments mapped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781044"/>
            <a:ext cx="64008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781044"/>
            <a:ext cx="1828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CRM Buildout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468880" y="3781044"/>
            <a:ext cx="3017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contacts + 50 companies added. All contacts linked to company records.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3922776"/>
            <a:ext cx="64008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922776"/>
            <a:ext cx="1828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Aboitiz Vendor Portal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468880" y="3922776"/>
            <a:ext cx="3017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package prepared (LOI + Company Profile + Spec Sheet). Ready to submit.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7200" y="4064508"/>
            <a:ext cx="64008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064508"/>
            <a:ext cx="1828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CEDC Outreach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468880" y="4064508"/>
            <a:ext cx="3017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sent to John Hisoler — formal coal presentation proposed for May 6.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" y="4206240"/>
            <a:ext cx="64008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206240"/>
            <a:ext cx="1828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 Cement (CEMEX)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468880" y="4206240"/>
            <a:ext cx="3017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+ Chai Sibal reached. BLOCKED: awaiting woodchips lab results.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" y="4347972"/>
            <a:ext cx="64008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347972"/>
            <a:ext cx="1828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Research Complete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468880" y="4347972"/>
            <a:ext cx="3017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17 coal/PKS targets identified. Entity cards generated for all.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669280" y="3364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CONTACTS BY SEGMENT</a:t>
            </a:r>
            <a:endParaRPr lang="en-US" sz="900" dirty="0"/>
          </a:p>
        </p:txBody>
      </p:sp>
      <p:graphicFrame>
        <p:nvGraphicFramePr>
          <p:cNvPr id="47" name="Chart 0"/>
          <p:cNvGraphicFramePr/>
          <p:nvPr/>
        </p:nvGraphicFramePr>
        <p:xfrm>
          <a:off x="5577840" y="3611880"/>
          <a:ext cx="310896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Prospects — April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New Contacts | 50 Companies | 5 Segments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109728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70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1179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PLANTS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142646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Diesel, PKS — Luzon | Visayas | Mindanao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184023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73736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737360"/>
            <a:ext cx="10972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7922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71600" y="1801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PLANTS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204825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+ Alternative Fuels (PKS / Woodchips)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46720" y="1901952"/>
            <a:ext cx="8001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359152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359152"/>
            <a:ext cx="109728" cy="5669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4140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371600" y="2423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TRADING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26700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nickel, copper, steel — email blast campaign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046720" y="2523744"/>
            <a:ext cx="3040380" cy="23774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80944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980944"/>
            <a:ext cx="109728" cy="56692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035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5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371600" y="3044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&amp; SMELTING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329184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Nickel ore buyers — domestic and export market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046720" y="3145536"/>
            <a:ext cx="400050" cy="237744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602736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602736"/>
            <a:ext cx="109728" cy="5669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371600" y="3666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 / OTHER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71600" y="391363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Solar, wind, hydro — identified, future engagement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046720" y="3767328"/>
            <a:ext cx="640080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NEW CONTACTS THIS MONTH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29768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" y="4279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Bordeos — GNPower Dinginin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" y="439826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" y="43799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Leah Mabulay — Pagbilao Energy Corp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449884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" y="44805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Melanie Salinas — KEPCO SPC Power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0" y="429768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0016" y="4279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— Apo Cement (CEMEX)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572000" y="439826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0016" y="43799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Rey Hisoler — CEDC / MGEN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72000" y="449884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0016" y="44805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Otom — AboitizPower Therma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Outreach Activity — April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Emails | Viber / WhatsApp | Vendor Portal | Presentations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1945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0" y="1115568"/>
            <a:ext cx="18288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1115568"/>
            <a:ext cx="13716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52160" y="1115568"/>
            <a:ext cx="13716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223760" y="1115568"/>
            <a:ext cx="14630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115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371600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1371600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Presentation Proposal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51760" y="1371600"/>
            <a:ext cx="1828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912" y="1371600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Cebu Energy Development Corp (CEDC)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480560" y="1371600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1371600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Viber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852160" y="1371600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5312" y="1371600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Apr 28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223760" y="1371600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1371600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May 6 confirmation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1764792"/>
            <a:ext cx="219456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1764792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 Cement CEMEX Outreach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651760" y="1764792"/>
            <a:ext cx="18288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24912" y="1764792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+ Chai Sibal (Alt. Fuels Mgr)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80560" y="1764792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1764792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Viber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852160" y="1764792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25312" y="1764792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Apr 24-28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223760" y="1764792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96912" y="1764792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— need lab results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2157984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2157984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Aboitiz Vendor Portal Reg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651760" y="2157984"/>
            <a:ext cx="1828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24912" y="2157984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aci.scmd@aboitiz.com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80560" y="2157984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53712" y="2157984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(package ready)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852160" y="2157984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25312" y="2157984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Ready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23760" y="2157984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2157984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this week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57200" y="2551176"/>
            <a:ext cx="219456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" y="2551176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GNPD Contact Intel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651760" y="2551176"/>
            <a:ext cx="18288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24912" y="2551176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Bordeos (GNPower Dinginin)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480560" y="2551176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53712" y="2551176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52160" y="2551176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25312" y="2551176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223760" y="2551176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6912" y="2551176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card ready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57200" y="2944368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0352" y="2944368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SMC Global Power Outreach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651760" y="2944368"/>
            <a:ext cx="1828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24912" y="2944368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info@smcglobalpower.com.ph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480560" y="2944368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53712" y="2944368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852160" y="2944368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25312" y="2944368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223760" y="2944368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96912" y="2944368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pending send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57200" y="3337560"/>
            <a:ext cx="219456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0352" y="3337560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KEPCO SPC Outreach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651760" y="3337560"/>
            <a:ext cx="18288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24912" y="3337560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melanie.salinas@kepcospc.com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480560" y="3337560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53712" y="3337560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852160" y="3337560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25312" y="3337560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223760" y="3337560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96912" y="3337560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pending send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57200" y="3730752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0352" y="3730752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Pagbilao Energy Outreach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651760" y="3730752"/>
            <a:ext cx="1828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24912" y="3730752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l.mabulay@teamenergy.ph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480560" y="3730752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53712" y="3730752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852160" y="3730752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25312" y="3730752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223760" y="3730752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296912" y="3730752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pending send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57200" y="4123944"/>
            <a:ext cx="219456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0352" y="4123944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Nickel Email Blast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2651760" y="4123944"/>
            <a:ext cx="18288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24912" y="4123944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Chinese commodity houses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480560" y="4123944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53712" y="4123944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5852160" y="4123944"/>
            <a:ext cx="13716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925312" y="4123944"/>
            <a:ext cx="1225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Apr 12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7223760" y="4123944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296912" y="4123944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ongoing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57200" y="46634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0" name="Text 98"/>
          <p:cNvSpPr/>
          <p:nvPr/>
        </p:nvSpPr>
        <p:spPr>
          <a:xfrm>
            <a:off x="594360" y="4636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/ Sent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1920240" y="466344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2" name="Text 100"/>
          <p:cNvSpPr/>
          <p:nvPr/>
        </p:nvSpPr>
        <p:spPr>
          <a:xfrm>
            <a:off x="2057400" y="46360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Send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3291840" y="4663440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4" name="Text 102"/>
          <p:cNvSpPr/>
          <p:nvPr/>
        </p:nvSpPr>
        <p:spPr>
          <a:xfrm>
            <a:off x="3429000" y="46360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Plant Segment — April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Plants Profiled | Coal + PKS | Luzon | Visayas | Mindanao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269748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4447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GNPD, Pagbilao, Masinloc, Limay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16824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~4,291 MW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115568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115568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1887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VISAYAS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4447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CEDC, TPC, PEDC, KEPCO SPC, SPC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91840" y="16824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~1,042 MW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115568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15568"/>
            <a:ext cx="269748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1887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MINDANAO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14447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GNK, MisOr, SPI, Malita, SEC, Minergy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26480" y="16824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~1,889 MW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121408"/>
            <a:ext cx="1965960" cy="2377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1214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23160" y="2121408"/>
            <a:ext cx="731520" cy="2377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21214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54680" y="2121408"/>
            <a:ext cx="640080" cy="2377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212140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794760" y="2121408"/>
            <a:ext cx="1463040" cy="2377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2121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257800" y="2121408"/>
            <a:ext cx="1508760" cy="2377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1214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766560" y="2121408"/>
            <a:ext cx="1920240" cy="237744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121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/ PKS Fit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2359152"/>
            <a:ext cx="1965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2359152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GNPower Dinginin (GNPD)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23160" y="2359152"/>
            <a:ext cx="731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78024" y="2359152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1,336 MW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54680" y="2359152"/>
            <a:ext cx="640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9544" y="235915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794760" y="2359152"/>
            <a:ext cx="14630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9624" y="23591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Bordeos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57800" y="2359152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12664" y="2359152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contacted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766560" y="2359152"/>
            <a:ext cx="1920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21424" y="2359152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57200" y="2642616"/>
            <a:ext cx="1965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2642616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Pagbilao Energy Corp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423160" y="2642616"/>
            <a:ext cx="7315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78024" y="2642616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735 MW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154680" y="2642616"/>
            <a:ext cx="64008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9544" y="264261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Luzon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794760" y="2642616"/>
            <a:ext cx="14630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9624" y="2642616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Leah Mabulay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257800" y="2642616"/>
            <a:ext cx="15087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12664" y="2642616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contacted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766560" y="2642616"/>
            <a:ext cx="19202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21424" y="264261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57200" y="2926080"/>
            <a:ext cx="1965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" y="2926080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Masinloc MPPCL (SMC GP)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423160" y="2926080"/>
            <a:ext cx="731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78024" y="2926080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688+ MW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154680" y="2926080"/>
            <a:ext cx="640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9544" y="29260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794760" y="2926080"/>
            <a:ext cx="14630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9624" y="2926080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SMC GP Team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257800" y="2926080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12664" y="2926080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 ready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766560" y="2926080"/>
            <a:ext cx="1920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21424" y="292608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57200" y="3209544"/>
            <a:ext cx="1965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064" y="3209544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GNPower Kauswagan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423160" y="3209544"/>
            <a:ext cx="7315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478024" y="3209544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552 MW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154680" y="3209544"/>
            <a:ext cx="64008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9544" y="320954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Mindanao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794760" y="3209544"/>
            <a:ext cx="14630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49624" y="3209544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Donna Mezo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257800" y="3209544"/>
            <a:ext cx="15087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12664" y="3209544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contacted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766560" y="3209544"/>
            <a:ext cx="19202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21424" y="3209544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" y="3493008"/>
            <a:ext cx="1965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2064" y="3493008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Misamis Oriental (Aboitiz)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2423160" y="3493008"/>
            <a:ext cx="731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78024" y="3493008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405 MW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3154680" y="3493008"/>
            <a:ext cx="640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09544" y="349300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Mindanao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794760" y="3493008"/>
            <a:ext cx="14630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849624" y="3493008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Otom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5257800" y="3493008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12664" y="3493008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contacted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6766560" y="3493008"/>
            <a:ext cx="1920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21424" y="3493008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57200" y="3776472"/>
            <a:ext cx="1965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12064" y="3776472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CEDC — MGEN / GBP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2423160" y="3776472"/>
            <a:ext cx="7315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478024" y="3776472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 MW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3154680" y="3776472"/>
            <a:ext cx="64008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09544" y="377647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Visayas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3794760" y="3776472"/>
            <a:ext cx="14630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849624" y="377647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Hisoler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257800" y="3776472"/>
            <a:ext cx="15087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312664" y="3776472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SENT Apr 28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766560" y="3776472"/>
            <a:ext cx="19202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821424" y="3776472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457200" y="4059936"/>
            <a:ext cx="1965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2064" y="4059936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KEPCO SPC Power Corp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2423160" y="4059936"/>
            <a:ext cx="731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478024" y="4059936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MW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3154680" y="4059936"/>
            <a:ext cx="640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209544" y="405993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Visayas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3794760" y="4059936"/>
            <a:ext cx="14630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849624" y="4059936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Melanie Salinas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5257800" y="4059936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312664" y="4059936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 ready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6766560" y="4059936"/>
            <a:ext cx="1920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821424" y="405993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Coal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457200" y="4343400"/>
            <a:ext cx="1965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12064" y="4343400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 Cement (CEMEX)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2423160" y="4343400"/>
            <a:ext cx="7315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478024" y="4343400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3154680" y="4343400"/>
            <a:ext cx="64008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209544" y="43434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Visayas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3794760" y="4343400"/>
            <a:ext cx="14630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849624" y="4343400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5257800" y="4343400"/>
            <a:ext cx="15087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312664" y="4343400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Contacted Apr 28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6766560" y="4343400"/>
            <a:ext cx="192024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821424" y="4343400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— PKS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Cement &amp; Alternative Fuels Segment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+ PKS / Woodchips Co-processing | Visayas Focus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PLANT TARGETS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13716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0" y="1371600"/>
            <a:ext cx="146304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371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82296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3716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PKS Fit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0" y="1371600"/>
            <a:ext cx="13716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3716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1591056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1591056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 Cement (CEMEX)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0" y="1591056"/>
            <a:ext cx="14630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83664" y="1591056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/ Chai Sibal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91840" y="1591056"/>
            <a:ext cx="8229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1591056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0" y="1591056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9664" y="1591056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— BLOCKED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1856232"/>
            <a:ext cx="137160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185623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Taiheiyo Cement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828800" y="1856232"/>
            <a:ext cx="146304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83664" y="1856232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Kenneth Sambalod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91840" y="1856232"/>
            <a:ext cx="82296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6704" y="1856232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14800" y="1856232"/>
            <a:ext cx="137160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9664" y="185623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outreach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2121408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2121408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Mabuhay Filcement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28800" y="2121408"/>
            <a:ext cx="14630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83664" y="2121408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Celyn Aves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91840" y="2121408"/>
            <a:ext cx="8229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2121408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114800" y="2121408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9664" y="2121408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response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" y="2386584"/>
            <a:ext cx="137160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" y="2386584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Philcement (PHINMA)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828800" y="2386584"/>
            <a:ext cx="146304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83664" y="2386584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Jessie Sarias / Liezel Muro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91840" y="2386584"/>
            <a:ext cx="82296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46704" y="2386584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114800" y="2386584"/>
            <a:ext cx="137160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9664" y="2386584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response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7200" y="2651760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2651760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Republic Cement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0" y="2651760"/>
            <a:ext cx="14630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83664" y="2651760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Allan Saquilayan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91840" y="2651760"/>
            <a:ext cx="8229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46704" y="2651760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114800" y="2651760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69664" y="2651760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pending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57200" y="2916936"/>
            <a:ext cx="137160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2064" y="2916936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Goodfound Cement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828800" y="2916936"/>
            <a:ext cx="146304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83664" y="2916936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Nadine Malto / Arvi Nieva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291840" y="2916936"/>
            <a:ext cx="82296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46704" y="2916936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114800" y="2916936"/>
            <a:ext cx="1371600" cy="2651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69664" y="2916936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primary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57200" y="3182112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" y="318211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Suprea Ready Mixed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828800" y="3182112"/>
            <a:ext cx="14630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83664" y="3182112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Rochelle Dedicatoria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291840" y="3182112"/>
            <a:ext cx="8229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46704" y="3182112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114800" y="3182112"/>
            <a:ext cx="13716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69664" y="318211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Re-initiated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577840" y="1101344"/>
            <a:ext cx="2944368" cy="1623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577840" y="1101344"/>
            <a:ext cx="2944368" cy="477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18668" y="1174496"/>
            <a:ext cx="2738947" cy="218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REQUIRED: APO CEMENT (CEMEX)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595702" y="1494536"/>
            <a:ext cx="2670473" cy="0"/>
          </a:xfrm>
          <a:prstGeom prst="line">
            <a:avLst/>
          </a:prstGeom>
          <a:noFill/>
          <a:ln w="12700">
            <a:solidFill>
              <a:srgbClr val="2D4A6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18668" y="1540256"/>
            <a:ext cx="2738947" cy="122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Makers:
</a:t>
            </a: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(Primary)  |  Chai Sibal (Alt. Fuels Mgr)
</a:t>
            </a: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Status: BLOCKED
</a:t>
            </a:r>
            <a:r>
              <a:rPr lang="en-US" sz="7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to proceed:
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Woodchips sample — physical
2. Lab results (NCV, moisture, ash content)
3. Photos of material quality
4. Target budget / price indication
</a:t>
            </a:r>
            <a:r>
              <a:rPr lang="en-US" sz="75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CEMEX has a corporate mandate for 30% alternative fuel mix in all plants.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57200" y="36758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PIPELINE — 5 ACTIVE DEALS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57200" y="39319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566928" y="397764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Cement Plant Clients — Diesel Supply Negotiations
</a:t>
            </a: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close: May 15, 2026  |  DP: 50%  |  Value: ~$1.8M
Clients: </a:t>
            </a: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Goodfound</a:t>
            </a: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Republic</a:t>
            </a: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Mabuhay</a:t>
            </a: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Philcement</a:t>
            </a: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Suprea
</a:t>
            </a: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energy crisis is creating urgency — push for commitment this week.</a:t>
            </a:r>
            <a:endParaRPr lang="en-US" sz="750" dirty="0"/>
          </a:p>
        </p:txBody>
      </p:sp>
      <p:graphicFrame>
        <p:nvGraphicFramePr>
          <p:cNvPr id="82" name="Chart 0"/>
          <p:cNvGraphicFramePr/>
          <p:nvPr/>
        </p:nvGraphicFramePr>
        <p:xfrm>
          <a:off x="4754880" y="3401568"/>
          <a:ext cx="393192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Status — April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Deals | Close Dates | Risk Assessment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7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1115568"/>
          <a:ext cx="27432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3200400" y="1115568"/>
            <a:ext cx="2834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15568"/>
            <a:ext cx="91440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1161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Tawi-Tawi Limonite Nickel Ore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66360" y="11612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37560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outreach sent. Tsingshan bounced — verify alternate contact.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3337560" y="16916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Generated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HIGH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3200400" y="2057400"/>
            <a:ext cx="2834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2057400"/>
            <a:ext cx="91440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37560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— Goodfound Cement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66360" y="21031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33756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DP. Ongoing negotiation.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337560" y="2633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15, 2026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3200400" y="2999232"/>
            <a:ext cx="2834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0" y="2999232"/>
            <a:ext cx="91440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37560" y="3044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— Republic Cement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166360" y="3044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337560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DP.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3337560" y="35753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15, 2026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3200400" y="3941064"/>
            <a:ext cx="2834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00400" y="3941064"/>
            <a:ext cx="91440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37560" y="3986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— Mabuhay Filcement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66360" y="39867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$360K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337560" y="42153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DP.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3337560" y="458190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15, 2026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6172200" y="1115568"/>
            <a:ext cx="2834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172200" y="1115568"/>
            <a:ext cx="91440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9360" y="1161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— Philcement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138160" y="11612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$360K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309360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DP.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6309360" y="16916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15, 2026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6172200" y="2057400"/>
            <a:ext cx="2834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172200" y="2057400"/>
            <a:ext cx="91440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09360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— Suprea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138160" y="21031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$360K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30936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DP.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6309360" y="2633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15, 2026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6172200" y="2999232"/>
            <a:ext cx="2834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172200" y="2999232"/>
            <a:ext cx="91440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309360" y="3044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Ore — JX Advanced Metals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138160" y="3044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$5M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309360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Negotiation this week.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6309360" y="35753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Contact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MEDIUM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6172200" y="3941064"/>
            <a:ext cx="2834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6172200" y="3941064"/>
            <a:ext cx="91440" cy="8778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09360" y="3986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— CEDC (MGEN)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138160" y="39867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309360" y="42153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RZH proposed May 6 formal presentation. Awaiting confirmation.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6309360" y="45989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Proposed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Close: </a:t>
            </a: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6, 2026</a:t>
            </a: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6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LOW</a:t>
            </a:r>
            <a:endParaRPr lang="en-US" sz="650" dirty="0"/>
          </a:p>
        </p:txBody>
      </p:sp>
      <p:sp>
        <p:nvSpPr>
          <p:cNvPr id="58" name="Shape 55"/>
          <p:cNvSpPr/>
          <p:nvPr/>
        </p:nvSpPr>
        <p:spPr>
          <a:xfrm>
            <a:off x="3048" y="4150869"/>
            <a:ext cx="3197352" cy="732027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85927" y="4150869"/>
            <a:ext cx="3055247" cy="732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PIPELINE: </a:t>
            </a:r>
            <a:r>
              <a:rPr lang="en-US" sz="85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$35M+ </a:t>
            </a:r>
            <a:r>
              <a:rPr lang="en-US" sz="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Nickel: $30M  |  Diesel: ~$1.8M  |  Copper: $5M  |  Coal: TBD  |  Near-term: May 6 (Coal) + May 15 (Diesel)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HubSpot CRM — Monthly Buildout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Contacts | 50 Companies | 17 Entity Cards | Organized by Segment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975868"/>
            <a:ext cx="822960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975868"/>
            <a:ext cx="109728" cy="6309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490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PLANTS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32334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GNPD, Pagbilao, SMC GP, CEDC, KEPCO SPC, SPC, Aboitiz, etc.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858000" y="1103884"/>
            <a:ext cx="16916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1038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 Plants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670812"/>
            <a:ext cx="822960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670812"/>
            <a:ext cx="109728" cy="6309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7439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PLANTS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018284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 Cement, Taiheiyo, Mabuhay, Philcement, Republic, etc.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58000" y="1798828"/>
            <a:ext cx="16916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7988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Plants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65756"/>
            <a:ext cx="822960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365756"/>
            <a:ext cx="109728" cy="63093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4389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TRADING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271322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Tsingshan, Lygend, Jinchuan, Baosteel, TISCO, Huayou, CITIC, etc.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858000" y="2493772"/>
            <a:ext cx="1691640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24937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 Contacts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060700"/>
            <a:ext cx="822960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060700"/>
            <a:ext cx="109728" cy="630936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1338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/ SMELTING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40817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Nickel Asia, GMetal, Eramen, Sumitomo, QMB — diesel buyers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58000" y="3188716"/>
            <a:ext cx="1691640" cy="3657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1887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Accounts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895344"/>
            <a:ext cx="822960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755644"/>
            <a:ext cx="109728" cy="63093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8287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 / OTHER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103116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for future engagement — not yet active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858000" y="3883660"/>
            <a:ext cx="1691640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8836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Accounts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424680"/>
            <a:ext cx="8229600" cy="457200"/>
          </a:xfrm>
          <a:prstGeom prst="rect">
            <a:avLst/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424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CARDS GENERATED: </a:t>
            </a:r>
            <a:r>
              <a:rPr lang="en-US" sz="7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Power Plant cards 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~/Documents/Obsidian Vault/Power Plants/  |  Markdown format  |  Ready for meeting prep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Plan — May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| This Week | Scheduled | Ongoing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ECONARES | Monthly Sales Report — April 2026 |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83464" y="1266444"/>
            <a:ext cx="205740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10" name="Text 8"/>
          <p:cNvSpPr/>
          <p:nvPr/>
        </p:nvSpPr>
        <p:spPr>
          <a:xfrm>
            <a:off x="283464" y="126644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" y="1568196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160477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Apo Cement lab results + woodchips sample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56616" y="1842516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| Chai Sibal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56616" y="199796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83464" y="2272284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230886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Aboitiz Vendor Portal registration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56616" y="254660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aci.scmd@aboitiz.com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56616" y="270205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83464" y="2976372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" y="30129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May 6 MGEN meeting with John Hisoler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56616" y="325069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jrrhisoler@mgen.com.ph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56616" y="3406140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459736" y="1266444"/>
            <a:ext cx="205740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9736" y="126644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59736" y="1568196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32888" y="160477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SMC Global Power — Masinloc / Malita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32888" y="1842516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info@smcglobalpower.com.ph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532888" y="199796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459736" y="2272284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32888" y="230886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GNPD — Francisco Bordeos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32888" y="254660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res-info@gnpower.com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532888" y="270205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2459736" y="2976372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32888" y="30129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KEPCO SPC — Melanie Salinas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32888" y="325069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melanie.salinas@kepcospc.com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2532888" y="3406140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636008" y="1266444"/>
            <a:ext cx="20574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36008" y="126644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36008" y="1568196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160477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presentation to MGEN — May 6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09160" y="1842516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Hisoler / MGEN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709160" y="199796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6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636008" y="2272284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230886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Apo Cement after lab results sent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09160" y="254660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Bong Acacio + Chai Sibal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709160" y="270205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7-9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636008" y="2976372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0129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GNPower Kauswagan outreach — Donna Mezo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09160" y="325069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gnpres@gnpower.com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709160" y="3406140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7-9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812280" y="1266444"/>
            <a:ext cx="2057400" cy="301752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12280" y="126644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12280" y="1568196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85432" y="160477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Diesel deals to close — May 15 deadline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885432" y="1842516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Goodfound / Republic / Mabuhay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885432" y="199796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follow-up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6812280" y="2272284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85432" y="230886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Copper / JX Advanced Metals to Negotiation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885432" y="254660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purchase@jmm.co.jp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6885432" y="270205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6812280" y="2976372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85432" y="30129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Alsons Power contact for Sarangani Energy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885432" y="325069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alsonspower.com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885432" y="3406140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ECONARES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29260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REPORT — APRIL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Contacts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79192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79192" y="2578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Profiled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55464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$35M+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55464" y="2578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Value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31736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031736" y="2578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Deals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8138160" cy="0"/>
          </a:xfrm>
          <a:prstGeom prst="line">
            <a:avLst/>
          </a:prstGeom>
          <a:noFill/>
          <a:ln w="12700">
            <a:solidFill>
              <a:srgbClr val="2D4A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17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Focus: </a:t>
            </a: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outreach to MGEN, GNPD, SMC Global, KEPCO SPC  |  Unblock Apo Cement PKS deal  |  Close Diesel contracts by May 15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566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Reymarr Zamora Hijara
</a:t>
            </a: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Marketing Officer | ECONARES
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rzh24.econares@gmail.com  |  +63 927 872 5194
WhatsApp  |  Telegram  |  Viber  |  WeChat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2743200"/>
            <a:ext cx="2926080" cy="2926080"/>
          </a:xfrm>
          <a:prstGeom prst="ellipse">
            <a:avLst/>
          </a:prstGeom>
          <a:solidFill>
            <a:srgbClr val="1B263B">
              <a:alpha val="45000"/>
            </a:srgbClr>
          </a:solidFill>
          <a:ln w="25400">
            <a:solidFill>
              <a:srgbClr val="2D4A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200400"/>
            <a:ext cx="2011680" cy="201168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1716</Words>
  <Application>Microsoft Office PowerPoint</Application>
  <PresentationFormat>On-screen Show (16:9)</PresentationFormat>
  <Paragraphs>362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ECONARES Monthly Sales Report — April 2026</dc:title>
  <dc:subject>Monthly Sales Report — April 2026</dc:subject>
  <dc:creator>Reymarr Hijara</dc:creator>
  <cp:lastModifiedBy>Reymarr Hijara (Shared)</cp:lastModifiedBy>
  <cp:revision>2</cp:revision>
  <dcterms:created xsi:type="dcterms:W3CDTF">2026-04-29T15:00:50Z</dcterms:created>
  <dcterms:modified xsi:type="dcterms:W3CDTF">2026-04-29T23:17:51Z</dcterms:modified>
</cp:coreProperties>
</file>