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Contacts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8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A8-4FE3-8FF5-DA539F53C257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A8-4FE3-8FF5-DA539F53C257}"/>
              </c:ext>
            </c:extLst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A8-4FE3-8FF5-DA539F53C257}"/>
              </c:ext>
            </c:extLst>
          </c:dPt>
          <c:dPt>
            <c:idx val="3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A8-4FE3-8FF5-DA539F53C257}"/>
              </c:ext>
            </c:extLst>
          </c:dPt>
          <c:dPt>
            <c:idx val="4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A8-4FE3-8FF5-DA539F53C25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A8-4FE3-8FF5-DA539F53C25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A8-4FE3-8FF5-DA539F53C25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A8-4FE3-8FF5-DA539F53C25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A8-4FE3-8FF5-DA539F53C25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2A8-4FE3-8FF5-DA539F53C25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Commodity Trading</c:v>
                </c:pt>
                <c:pt idx="1">
                  <c:v>Power Plants</c:v>
                </c:pt>
                <c:pt idx="2">
                  <c:v>Cement</c:v>
                </c:pt>
                <c:pt idx="3">
                  <c:v>Mining</c:v>
                </c:pt>
                <c:pt idx="4">
                  <c:v>Renewables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23</c:v>
                </c:pt>
                <c:pt idx="2">
                  <c:v>10</c:v>
                </c:pt>
                <c:pt idx="3">
                  <c:v>5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2A8-4FE3-8FF5-DA539F53C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Value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Goodfound</c:v>
                </c:pt>
                <c:pt idx="1">
                  <c:v>Republic</c:v>
                </c:pt>
                <c:pt idx="2">
                  <c:v>Mabuhay</c:v>
                </c:pt>
                <c:pt idx="3">
                  <c:v>Philcement</c:v>
                </c:pt>
                <c:pt idx="4">
                  <c:v>Suprea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360</c:v>
                </c:pt>
                <c:pt idx="1">
                  <c:v>360</c:v>
                </c:pt>
                <c:pt idx="2">
                  <c:v>360</c:v>
                </c:pt>
                <c:pt idx="3">
                  <c:v>360</c:v>
                </c:pt>
                <c:pt idx="4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06-4119-8EFC-5AD35EDB23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PH" sz="800" b="0" i="0" u="none" strike="noStrike">
                <a:solidFill>
                  <a:srgbClr val="0D1B2A"/>
                </a:solidFill>
                <a:latin typeface="Arial"/>
              </a:rPr>
              <a:t>PIPELINE BREAKDOWN ($M)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27-45B6-A519-E4973BADA653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27-45B6-A519-E4973BADA653}"/>
              </c:ext>
            </c:extLst>
          </c:dPt>
          <c:dPt>
            <c:idx val="2"/>
            <c:bubble3D val="0"/>
            <c:spPr>
              <a:solidFill>
                <a:srgbClr val="D4A8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27-45B6-A519-E4973BADA653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827-45B6-A519-E4973BADA65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27-45B6-A519-E4973BADA65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27-45B6-A519-E4973BADA65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27-45B6-A519-E4973BADA65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827-45B6-A519-E4973BADA65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Nickel Ore (China)</c:v>
                </c:pt>
                <c:pt idx="1">
                  <c:v>Diesel</c:v>
                </c:pt>
                <c:pt idx="2">
                  <c:v>Copper</c:v>
                </c:pt>
                <c:pt idx="3">
                  <c:v>Coal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1.8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827-45B6-A519-E4973BADA6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71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ECONARES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&amp; RESOURCES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4747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SALES REPORT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Division — Sales &amp; Marketing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3474720" cy="1097280"/>
          </a:xfrm>
          <a:prstGeom prst="rect">
            <a:avLst/>
          </a:prstGeom>
          <a:solidFill>
            <a:srgbClr val="1B263B"/>
          </a:solidFill>
          <a:ln w="12700">
            <a:solidFill>
              <a:srgbClr val="2D4A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Reymarr Zamora Hijara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Marketing Officer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3931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rzh24.econares@gmail.com  |  +63 927 872 5194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731520"/>
            <a:ext cx="3840480" cy="3840480"/>
          </a:xfrm>
          <a:prstGeom prst="ellipse">
            <a:avLst/>
          </a:prstGeom>
          <a:solidFill>
            <a:srgbClr val="1B263B">
              <a:alpha val="45000"/>
            </a:srgbClr>
          </a:solidFill>
          <a:ln w="25400">
            <a:solidFill>
              <a:srgbClr val="2D4A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188720"/>
            <a:ext cx="2926080" cy="2926080"/>
          </a:xfrm>
          <a:prstGeom prst="ellipse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148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— Key Metrics at a Glance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20116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Contacts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24328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24328" y="1115568"/>
            <a:ext cx="2011680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715768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Companies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to CRM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91456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115568"/>
            <a:ext cx="201168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882896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58584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58584" y="1115568"/>
            <a:ext cx="20116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050024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70048"/>
            <a:ext cx="82296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670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PIPELINE VALUE: </a:t>
            </a:r>
            <a:r>
              <a:rPr lang="en-US" sz="95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$35M+ </a:t>
            </a: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Nickel Ore: $30M (China)  |  Diesel: ~$1.8M  |  Copper: $5M  |  Coal: Outreach pending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ACCOMPLISHMENTS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639312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Plant Research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68880" y="3458345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Philippine power plants profiled — coal, PKS, and woodchips segments mapped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781044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781044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CRM Buildout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68880" y="3693657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contacts + 50 companies added. All contacts linked to company records.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922776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922776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Nickel Email Blast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68880" y="3922776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Chinese buyers contacted — Tawi-Tawi Limonite Ni ore specs sent Apr 13-15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" y="4064508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064508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Aboitiz Vendor Portal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68880" y="4135374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package prepared (LOI + Company Profile + Spec Sheet). Ready to submit.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206240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CEDC Outreach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74392" y="4337953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sent to John Hisoler — formal coal presentation proposed for May 6.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4347972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347972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 (CEMEX)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468880" y="4560570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+ Chai Sibal reached. BLOCKED: awaiting woodchips lab results.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669280" y="3364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CONTACTS BY SEGMENT</a:t>
            </a:r>
            <a:endParaRPr lang="en-US" sz="900" dirty="0"/>
          </a:p>
        </p:txBody>
      </p:sp>
      <p:graphicFrame>
        <p:nvGraphicFramePr>
          <p:cNvPr id="47" name="Chart 0"/>
          <p:cNvGraphicFramePr/>
          <p:nvPr/>
        </p:nvGraphicFramePr>
        <p:xfrm>
          <a:off x="5577840" y="3611880"/>
          <a:ext cx="31089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Prospects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New Contacts | 50 Companies | 5 Segments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109728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6128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13898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Diesel, PKS — Luzon | Visayas | Mindanao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30060" y="1300480"/>
            <a:ext cx="184023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8249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682496"/>
            <a:ext cx="109728" cy="5120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7282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19568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nickel buyers — Tsingshan, Jinchuan, Lygend, CITIC, Bulk Ore (email blast Apr 13-15)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46420" y="1837944"/>
            <a:ext cx="3040380" cy="2011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24942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49424"/>
            <a:ext cx="1097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29514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71600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PLANTS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252374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+ Alternative Fuels (PKS / Woodchips)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870190" y="2418588"/>
            <a:ext cx="8001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81635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816352"/>
            <a:ext cx="109728" cy="512064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86207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71600" y="2871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&amp; SMELTING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30906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Nickel ore buyers — domestic and export market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286750" y="2977896"/>
            <a:ext cx="400050" cy="20116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38328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383280"/>
            <a:ext cx="109728" cy="5120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4290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71600" y="3438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/ OTHER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600" y="36576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Solar, wind, hydro — identified, future engagement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46720" y="3538728"/>
            <a:ext cx="64008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NEW CONTACTS THIS MONTH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27939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4261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Bordeos — GNPower Dinginin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43845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" y="43662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Leah Mabulay — Pagbilao Energy Corp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48970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" y="44714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Melanie Salinas — KEPCO SPC Power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0" y="427939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4261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Anson Wong — Jinchuan Intl (China Nickel)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72000" y="43845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43662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Finch — Bulk Ore Limited (HK)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0" y="448970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0016" y="44714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Rey Hisoler — CEDC / MGEN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Outreach Activity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Emails | Viber / WhatsApp | Vendor Portal | Presentations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1945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115568"/>
            <a:ext cx="18288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1115568"/>
            <a:ext cx="13716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1115568"/>
            <a:ext cx="13716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23760" y="1115568"/>
            <a:ext cx="1463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15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371600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1371600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Nickel Email Blast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51760" y="1371600"/>
            <a:ext cx="1828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1371600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Chinese commodity houses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80560" y="1371600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1371600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852160" y="1371600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1371600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Apr 13-15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223760" y="1371600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1371600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ongoing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1764792"/>
            <a:ext cx="21945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1764792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Presentation Proposal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651760" y="1764792"/>
            <a:ext cx="1828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1764792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Cebu Energy Development Corp (CEDC)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80560" y="1764792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1764792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Viber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852160" y="1764792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25312" y="1764792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Apr 28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223760" y="1764792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1764792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May 6 confirmation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2157984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2157984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 CEMEX Outreach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651760" y="2157984"/>
            <a:ext cx="1828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24912" y="2157984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+ Chai Sibal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80560" y="2157984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53712" y="2157984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Viber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852160" y="2157984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25312" y="2157984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Apr 24-28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23760" y="2157984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2157984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— need lab results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2551176"/>
            <a:ext cx="21945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2551176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Aboitiz Vendor Portal Reg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651760" y="2551176"/>
            <a:ext cx="1828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24912" y="2551176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aci.scmd@aboitiz.com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480560" y="2551176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53712" y="2551176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(package ready)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52160" y="2551176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25312" y="2551176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Ready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223760" y="2551176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6912" y="255117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this week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7200" y="2944368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" y="2944368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GNPD Contact Intel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651760" y="2944368"/>
            <a:ext cx="1828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24912" y="2944368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Bordeos (GNPower Dinginin)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480560" y="2944368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53712" y="2944368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852160" y="2944368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25312" y="2944368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223760" y="2944368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96912" y="2944368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card ready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57200" y="3337560"/>
            <a:ext cx="21945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0352" y="3337560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 Global Power Outreach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651760" y="3337560"/>
            <a:ext cx="1828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24912" y="3337560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info@smcglobalpower.com.ph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480560" y="3337560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53712" y="3337560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852160" y="3337560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25312" y="3337560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223760" y="3337560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96912" y="3337560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pending send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57200" y="3730752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0352" y="3730752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KEPCO SPC Outreach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651760" y="3730752"/>
            <a:ext cx="1828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24912" y="3730752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melanie.salinas@kepcospc.com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480560" y="3730752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53712" y="3730752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852160" y="3730752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25312" y="3730752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223760" y="3730752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96912" y="3730752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pending send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57200" y="4123944"/>
            <a:ext cx="21945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0352" y="4123944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Pagbilao Energy Outreach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651760" y="4123944"/>
            <a:ext cx="1828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24912" y="4123944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l.mabulay@teamenergy.ph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480560" y="4123944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53712" y="4123944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852160" y="4123944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925312" y="4123944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223760" y="4123944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296912" y="4123944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pending send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57200" y="46634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0" name="Text 98"/>
          <p:cNvSpPr/>
          <p:nvPr/>
        </p:nvSpPr>
        <p:spPr>
          <a:xfrm>
            <a:off x="594360" y="4636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/ Sent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920240" y="466344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2" name="Text 100"/>
          <p:cNvSpPr/>
          <p:nvPr/>
        </p:nvSpPr>
        <p:spPr>
          <a:xfrm>
            <a:off x="2057400" y="4636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Send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3291840" y="466344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4" name="Text 102"/>
          <p:cNvSpPr/>
          <p:nvPr/>
        </p:nvSpPr>
        <p:spPr>
          <a:xfrm>
            <a:off x="3429000" y="4636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Plant Segment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Plants Profiled | Coal + PKS | Luzon | Visayas | Mindanao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26974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4447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GNPD, Pagbilao, Masinloc, Limay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16824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~4,291 MW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11556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11556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188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VISAYAS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4447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CEDC, TPC, PEDC, KEPCO SPC, SPC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91840" y="16824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~1,042 MW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11556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15568"/>
            <a:ext cx="269748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188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MINDANAO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4447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GNK, MisOr, SPI, Malita, SEC, Minergy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26480" y="16824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~1,889 MW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121408"/>
            <a:ext cx="196596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121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23160" y="2121408"/>
            <a:ext cx="73152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21214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4680" y="2121408"/>
            <a:ext cx="64008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21214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94760" y="2121408"/>
            <a:ext cx="146304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2121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257800" y="2121408"/>
            <a:ext cx="150876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1214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766560" y="2121408"/>
            <a:ext cx="192024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/ PKS Fit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2359152"/>
            <a:ext cx="1965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235915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GNPower Dinginin (GNPD)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23160" y="2359152"/>
            <a:ext cx="731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8024" y="2359152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1,336 MW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54680" y="2359152"/>
            <a:ext cx="640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9544" y="235915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94760" y="2359152"/>
            <a:ext cx="14630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9624" y="23591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Bordeos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2359152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12664" y="2359152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contacted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766560" y="2359152"/>
            <a:ext cx="1920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21424" y="235915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7200" y="2642616"/>
            <a:ext cx="1965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2642616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Pagbilao Energy Corp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423160" y="2642616"/>
            <a:ext cx="7315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78024" y="2642616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735 MW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154680" y="2642616"/>
            <a:ext cx="6400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9544" y="264261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Luzon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794760" y="2642616"/>
            <a:ext cx="14630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9624" y="2642616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Leah Mabulay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257800" y="2642616"/>
            <a:ext cx="15087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12664" y="2642616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contacted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766560" y="2642616"/>
            <a:ext cx="19202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21424" y="264261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7200" y="2926080"/>
            <a:ext cx="1965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2926080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Masinloc MPPCL (SMC GP)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423160" y="2926080"/>
            <a:ext cx="731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78024" y="2926080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688+ MW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154680" y="2926080"/>
            <a:ext cx="640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9544" y="29260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794760" y="2926080"/>
            <a:ext cx="14630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9624" y="292608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 GP Team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257800" y="2926080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12664" y="2926080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 ready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766560" y="2926080"/>
            <a:ext cx="1920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21424" y="292608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7200" y="3209544"/>
            <a:ext cx="1965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" y="3209544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GNPower Kauswagan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423160" y="3209544"/>
            <a:ext cx="7315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78024" y="3209544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552 MW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154680" y="3209544"/>
            <a:ext cx="6400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9544" y="320954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Mindanao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794760" y="3209544"/>
            <a:ext cx="14630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9624" y="3209544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Donna Mezo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257800" y="3209544"/>
            <a:ext cx="15087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12664" y="32095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contacted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766560" y="3209544"/>
            <a:ext cx="19202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21424" y="320954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" y="3493008"/>
            <a:ext cx="1965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2064" y="3493008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Misamis Oriental (Aboitiz)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2423160" y="3493008"/>
            <a:ext cx="731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78024" y="3493008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 MW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154680" y="3493008"/>
            <a:ext cx="640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9544" y="349300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Mindanao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794760" y="3493008"/>
            <a:ext cx="14630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49624" y="3493008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Otom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257800" y="3493008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12664" y="3493008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contacted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766560" y="3493008"/>
            <a:ext cx="1920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21424" y="349300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57200" y="3776472"/>
            <a:ext cx="1965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2064" y="377647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CEDC — MGEN / GBP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2423160" y="3776472"/>
            <a:ext cx="7315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478024" y="3776472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 MW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154680" y="3776472"/>
            <a:ext cx="6400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09544" y="377647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Visayas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3794760" y="3776472"/>
            <a:ext cx="14630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849624" y="377647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Hisoler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257800" y="3776472"/>
            <a:ext cx="15087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12664" y="3776472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SENT Apr 28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766560" y="3776472"/>
            <a:ext cx="19202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21424" y="377647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57200" y="4059936"/>
            <a:ext cx="1965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2064" y="4059936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KEPCO SPC Power Corp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2423160" y="4059936"/>
            <a:ext cx="731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478024" y="4059936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MW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154680" y="4059936"/>
            <a:ext cx="640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209544" y="405993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Visayas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3794760" y="4059936"/>
            <a:ext cx="14630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849624" y="4059936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Melanie Salinas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5257800" y="4059936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312664" y="4059936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 ready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6766560" y="4059936"/>
            <a:ext cx="1920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821424" y="405993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57200" y="4343400"/>
            <a:ext cx="1965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12064" y="4343400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 (CEMEX)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2423160" y="4343400"/>
            <a:ext cx="7315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478024" y="4343400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3154680" y="4343400"/>
            <a:ext cx="6400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209544" y="43434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Visayas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3794760" y="4343400"/>
            <a:ext cx="14630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849624" y="434340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5257800" y="4343400"/>
            <a:ext cx="15087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312664" y="4343400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Contacted Apr 28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766560" y="4343400"/>
            <a:ext cx="19202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21424" y="434340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— PKS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Cement &amp; Alternative Fuels Segment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+ PKS / Woodchips Co-processing | Visayas Focus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PLANT TARGETS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13716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0" y="1371600"/>
            <a:ext cx="14630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82296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3716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PKS Fit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0" y="1371600"/>
            <a:ext cx="13716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371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1591056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159105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 (CEMEX)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0" y="1591056"/>
            <a:ext cx="14630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83664" y="1591056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/ Chai Sibal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91840" y="1591056"/>
            <a:ext cx="822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159105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0" y="1591056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9664" y="159105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— BLOCKED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1856232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185623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Taiheiyo Cement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828800" y="1856232"/>
            <a:ext cx="146304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83664" y="185623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Kenneth Sambalod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91840" y="1856232"/>
            <a:ext cx="82296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1856232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0" y="1856232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9664" y="185623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outreach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2121408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2121408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Mabuhay Filcement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28800" y="2121408"/>
            <a:ext cx="14630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3664" y="2121408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Celyn Aves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91840" y="2121408"/>
            <a:ext cx="822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2121408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114800" y="2121408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9664" y="2121408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response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2386584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238658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Philcement (PHINMA)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28800" y="2386584"/>
            <a:ext cx="146304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83664" y="238658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Jessie Sarias / Liezel Muro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91840" y="2386584"/>
            <a:ext cx="82296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2386584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0" y="2386584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9664" y="238658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response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" y="2651760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2651760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Republic Cement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2651760"/>
            <a:ext cx="14630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83664" y="2651760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Saquilayan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91840" y="2651760"/>
            <a:ext cx="822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46704" y="2651760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14800" y="2651760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69664" y="2651760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pending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7200" y="2916936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" y="291693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Goodfound Cement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828800" y="2916936"/>
            <a:ext cx="146304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83664" y="2916936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Nadine Malto / Arvi Nieva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91840" y="2916936"/>
            <a:ext cx="82296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46704" y="291693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114800" y="2916936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69664" y="291693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primary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57200" y="3182112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" y="318211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Suprea Ready Mixed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828800" y="3182112"/>
            <a:ext cx="14630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83664" y="318211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Rochelle Dedicatoria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291840" y="3182112"/>
            <a:ext cx="822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46704" y="3182112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114800" y="3182112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69664" y="318211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Re-initiated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77840" y="1109218"/>
            <a:ext cx="3494278" cy="223748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577840" y="1109218"/>
            <a:ext cx="3494278" cy="65809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57034" y="1182369"/>
            <a:ext cx="3250491" cy="300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REQUIRED: APO CEMENT (CEMEX)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646856" y="1502410"/>
            <a:ext cx="3169229" cy="0"/>
          </a:xfrm>
          <a:prstGeom prst="line">
            <a:avLst/>
          </a:prstGeom>
          <a:noFill/>
          <a:ln w="12700">
            <a:solidFill>
              <a:srgbClr val="2D4A6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57034" y="1548130"/>
            <a:ext cx="3250491" cy="169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Makers:
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(Primary)  |  Chai Sibal (Alt. Fuels Mgr)
</a:t>
            </a: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BLOCKED
</a:t>
            </a: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proceed:
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Woodchips sample — physical
2. Lab results (NCV, moisture, ash content)
3. Photos of material quality
4. Target budget / price indication
</a:t>
            </a:r>
            <a:r>
              <a:rPr lang="en-US" sz="75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CEMEX has a corporate mandate for 30% alternative fuel mix in all plants.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57200" y="3675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PIPELINE — 5 ACTIVE DEALS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57200" y="39319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66928" y="39776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Cement Plant Clients — Diesel Supply Negotiations
</a:t>
            </a: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close: May 15, 2026  |  DP: 50%  |  Value: ~$1.8M
Clients: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Goodfound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Republic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Mabuhay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Philcement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Suprea
</a:t>
            </a: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energy crisis is creating urgency — push for commitment this week.</a:t>
            </a:r>
            <a:endParaRPr lang="en-US" sz="750" dirty="0"/>
          </a:p>
        </p:txBody>
      </p:sp>
      <p:graphicFrame>
        <p:nvGraphicFramePr>
          <p:cNvPr id="82" name="Chart 0"/>
          <p:cNvGraphicFramePr/>
          <p:nvPr/>
        </p:nvGraphicFramePr>
        <p:xfrm>
          <a:off x="4754880" y="3401568"/>
          <a:ext cx="393192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China Nickel Ore — Outbound Campaign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13-15, 2026 | 18 Contacts | 14 Companies | Mass Email Blast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97280"/>
            <a:ext cx="201168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070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1700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Contacted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24328" y="109728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24328" y="109728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2070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15768" y="1700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Reached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91456" y="109728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097280"/>
            <a:ext cx="201168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2070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~$75-78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82896" y="1700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Benchmark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 China / wmt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58584" y="109728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58584" y="1097280"/>
            <a:ext cx="20116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2070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7/18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50024" y="1700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176272"/>
            <a:ext cx="402336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176272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SPECS — PHILIPPINE LIMONITE NICKEL ORE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6928" y="2523744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NI: 0.5%  |  FE: 40%  |  CO: 0.02%  |  SIO2: 35-48%
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Origin: Tawi-Tawi, Philippines
</a:t>
            </a:r>
            <a:r>
              <a:rPr lang="en-US" sz="75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Incoterm: FOB Philippines (ECONARES arranges logistics)
</a:t>
            </a:r>
            <a:r>
              <a:rPr lang="en-US" sz="7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Capacity: 500K - 1M+ WMT/month
Price Indicative: ~$75-78/wmt CIF China (1.5% Ni basis)
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Buyers: Stainless steel mills, nickel pig iron producers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17720" y="21762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DETAILS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17720" y="24323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Sent: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89320" y="243230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13-15, 2026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17720" y="25968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Line: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89320" y="259689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PHILIPPINE LIMONITE NICKEL ORE (0.5% NI, 40% FE) — STRATEGIC SUPPLY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17720" y="27614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989320" y="276148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blast via Gmail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17720" y="29260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989320" y="292608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Chinese commodity trading + industrial houses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17720" y="30906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Incoterm: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989320" y="30906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Philippines (buyer arranges vessel)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617720" y="32552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Terms: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989320" y="325526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DP, balance against BL copy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" y="3639312"/>
            <a:ext cx="40233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639312"/>
            <a:ext cx="91440" cy="8869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6576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STATUS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" y="38587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DELIVERED: </a:t>
            </a:r>
            <a:r>
              <a:rPr lang="en-US" sz="6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Anson Wong (Jinchuan), Ed Finch (Bulk Ore), Qi Sun (Huayou), CITIC Metal, TISCO, China Beihai, Shandong Xinhai
</a:t>
            </a:r>
            <a:r>
              <a:rPr lang="en-US" sz="68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BOUNCED: </a:t>
            </a:r>
            <a:r>
              <a:rPr lang="en-US" sz="6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jason@tsingshan-steels.com, rszpc@ynqsgt.com, ales@lygend.com (try sales@?), Baosteel customer@, Fortune Metals info@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4617720" y="3703320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703320"/>
            <a:ext cx="91440" cy="822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ORE LIMITED — WARM SIGNAL DETECTED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0" y="39502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Finch (MD, HK): </a:t>
            </a: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Reacted to FCO template — buyer interest confirmed
</a:t>
            </a: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</a:t>
            </a: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formal FCO + counterparty DD checklist. Schedule call.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4590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FLAGS: </a:t>
            </a:r>
            <a:r>
              <a:rPr lang="en-US" sz="68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Tsingshan (jason@) BOUNCED — pivot to rszpc@ynqsgt.com (YNQSGT subsidiary). Lygend: ales@ likely = sales@. Jinchuan: Mario Wong departed Jul 2023 — Anson Wong is active CFO.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China Nickel — Buyer Matrix &amp; Deal Status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Companies | Tsingshan / Jinchuan / Lygend / CITIC / Bulk Ore / TISCO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69164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48840" y="1097280"/>
            <a:ext cx="109728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097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Contact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182880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97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74920" y="1097280"/>
            <a:ext cx="105156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0972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56032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097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Fit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1335024"/>
            <a:ext cx="16916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1335024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Tsingshan Group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2148840" y="1335024"/>
            <a:ext cx="109728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03704" y="133502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/ Trading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246120" y="1335024"/>
            <a:ext cx="182880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1335024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jason@tsingshan-steels.com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074920" y="1335024"/>
            <a:ext cx="105156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9784" y="1335024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126480" y="1335024"/>
            <a:ext cx="25603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335024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World's largest NPI producer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57200" y="1577340"/>
            <a:ext cx="169164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1577340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Tsingshan YNQSGT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2148840" y="1577340"/>
            <a:ext cx="109728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03704" y="157734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3246120" y="1577340"/>
            <a:ext cx="182880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1577340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rszpc@ynqsgt.com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074920" y="1577340"/>
            <a:ext cx="105156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9784" y="1577340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6126480" y="1577340"/>
            <a:ext cx="256032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1577340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use this subsidiary address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57200" y="1819656"/>
            <a:ext cx="16916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1819656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Jinchuan Intl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148840" y="1819656"/>
            <a:ext cx="109728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03704" y="181965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Anson Wong (CFO)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3246120" y="1819656"/>
            <a:ext cx="182880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00984" y="1819656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anson@jinchuan-intl.com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5074920" y="1819656"/>
            <a:ext cx="105156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9784" y="1819656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6126480" y="1819656"/>
            <a:ext cx="25603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1344" y="1819656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active CFO, nickel/copper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457200" y="2061972"/>
            <a:ext cx="169164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2061972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Ningbo Lygend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148840" y="2061972"/>
            <a:ext cx="109728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03704" y="206197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3246120" y="2061972"/>
            <a:ext cx="182880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00984" y="2061972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ales@lygend.com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5074920" y="2061972"/>
            <a:ext cx="105156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9784" y="2061972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6126480" y="2061972"/>
            <a:ext cx="256032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81344" y="2061972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try sales@lygend.com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457200" y="2304288"/>
            <a:ext cx="16916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" y="2304288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Ningbo Lygend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2148840" y="2304288"/>
            <a:ext cx="109728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03704" y="230428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3246120" y="2304288"/>
            <a:ext cx="182880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00984" y="2304288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procurement@lygend.com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5074920" y="2304288"/>
            <a:ext cx="105156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9784" y="2304288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6126480" y="2304288"/>
            <a:ext cx="25603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81344" y="2304288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delivery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457200" y="2546604"/>
            <a:ext cx="169164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2546604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Baosteel Resources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2148840" y="2546604"/>
            <a:ext cx="109728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03704" y="254660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Bin / Customer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3246120" y="2546604"/>
            <a:ext cx="182880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00984" y="2546604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customer@baosteel.com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5074920" y="2546604"/>
            <a:ext cx="105156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29784" y="2546604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6126480" y="2546604"/>
            <a:ext cx="256032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81344" y="2546604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steel conglomerate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457200" y="2788920"/>
            <a:ext cx="16916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" y="2788920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CITIC Metal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2148840" y="2788920"/>
            <a:ext cx="109728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03704" y="278892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3246120" y="2788920"/>
            <a:ext cx="182880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00984" y="2788920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citicmetal@citic.com</a:t>
            </a:r>
            <a:endParaRPr lang="en-US" sz="720" dirty="0"/>
          </a:p>
        </p:txBody>
      </p:sp>
      <p:sp>
        <p:nvSpPr>
          <p:cNvPr id="85" name="Shape 83"/>
          <p:cNvSpPr/>
          <p:nvPr/>
        </p:nvSpPr>
        <p:spPr>
          <a:xfrm>
            <a:off x="5074920" y="2788920"/>
            <a:ext cx="105156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29784" y="2788920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6126480" y="2788920"/>
            <a:ext cx="25603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81344" y="2788920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major state trading house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457200" y="3031236"/>
            <a:ext cx="169164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2064" y="3031236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Huayou Cobalt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2148840" y="3031236"/>
            <a:ext cx="109728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03704" y="303123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 Sun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246120" y="3031236"/>
            <a:ext cx="182880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00984" y="3031236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xct@huayou.com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5074920" y="3031236"/>
            <a:ext cx="105156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29784" y="3031236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20" dirty="0"/>
          </a:p>
        </p:txBody>
      </p:sp>
      <p:sp>
        <p:nvSpPr>
          <p:cNvPr id="97" name="Shape 95"/>
          <p:cNvSpPr/>
          <p:nvPr/>
        </p:nvSpPr>
        <p:spPr>
          <a:xfrm>
            <a:off x="6126480" y="3031236"/>
            <a:ext cx="256032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81344" y="3031236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cobalt/nickel buyer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457200" y="3273552"/>
            <a:ext cx="16916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2064" y="3273552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 / Baowu</a:t>
            </a:r>
            <a:endParaRPr lang="en-US" sz="720" dirty="0"/>
          </a:p>
        </p:txBody>
      </p:sp>
      <p:sp>
        <p:nvSpPr>
          <p:cNvPr id="101" name="Shape 99"/>
          <p:cNvSpPr/>
          <p:nvPr/>
        </p:nvSpPr>
        <p:spPr>
          <a:xfrm>
            <a:off x="2148840" y="3273552"/>
            <a:ext cx="109728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03704" y="327355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Import</a:t>
            </a:r>
            <a:endParaRPr lang="en-US" sz="720" dirty="0"/>
          </a:p>
        </p:txBody>
      </p:sp>
      <p:sp>
        <p:nvSpPr>
          <p:cNvPr id="103" name="Shape 101"/>
          <p:cNvSpPr/>
          <p:nvPr/>
        </p:nvSpPr>
        <p:spPr>
          <a:xfrm>
            <a:off x="3246120" y="3273552"/>
            <a:ext cx="182880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300984" y="3273552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sales@chinatisco.com</a:t>
            </a:r>
            <a:endParaRPr lang="en-US" sz="720" dirty="0"/>
          </a:p>
        </p:txBody>
      </p:sp>
      <p:sp>
        <p:nvSpPr>
          <p:cNvPr id="105" name="Shape 103"/>
          <p:cNvSpPr/>
          <p:nvPr/>
        </p:nvSpPr>
        <p:spPr>
          <a:xfrm>
            <a:off x="5074920" y="3273552"/>
            <a:ext cx="105156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29784" y="3273552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20" dirty="0"/>
          </a:p>
        </p:txBody>
      </p:sp>
      <p:sp>
        <p:nvSpPr>
          <p:cNvPr id="107" name="Shape 105"/>
          <p:cNvSpPr/>
          <p:nvPr/>
        </p:nvSpPr>
        <p:spPr>
          <a:xfrm>
            <a:off x="6126480" y="3273552"/>
            <a:ext cx="25603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81344" y="3273552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Baowu group, large buyer</a:t>
            </a:r>
            <a:endParaRPr lang="en-US" sz="720" dirty="0"/>
          </a:p>
        </p:txBody>
      </p:sp>
      <p:sp>
        <p:nvSpPr>
          <p:cNvPr id="109" name="Shape 107"/>
          <p:cNvSpPr/>
          <p:nvPr/>
        </p:nvSpPr>
        <p:spPr>
          <a:xfrm>
            <a:off x="457200" y="3515868"/>
            <a:ext cx="169164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3515868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Beihai</a:t>
            </a:r>
            <a:endParaRPr lang="en-US" sz="720" dirty="0"/>
          </a:p>
        </p:txBody>
      </p:sp>
      <p:sp>
        <p:nvSpPr>
          <p:cNvPr id="111" name="Shape 109"/>
          <p:cNvSpPr/>
          <p:nvPr/>
        </p:nvSpPr>
        <p:spPr>
          <a:xfrm>
            <a:off x="2148840" y="3515868"/>
            <a:ext cx="109728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03704" y="351586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720" dirty="0"/>
          </a:p>
        </p:txBody>
      </p:sp>
      <p:sp>
        <p:nvSpPr>
          <p:cNvPr id="113" name="Shape 111"/>
          <p:cNvSpPr/>
          <p:nvPr/>
        </p:nvSpPr>
        <p:spPr>
          <a:xfrm>
            <a:off x="3246120" y="3515868"/>
            <a:ext cx="182880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300984" y="3515868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sales@chinabeihai.net</a:t>
            </a:r>
            <a:endParaRPr lang="en-US" sz="720" dirty="0"/>
          </a:p>
        </p:txBody>
      </p:sp>
      <p:sp>
        <p:nvSpPr>
          <p:cNvPr id="115" name="Shape 113"/>
          <p:cNvSpPr/>
          <p:nvPr/>
        </p:nvSpPr>
        <p:spPr>
          <a:xfrm>
            <a:off x="5074920" y="3515868"/>
            <a:ext cx="105156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129784" y="3515868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20" dirty="0"/>
          </a:p>
        </p:txBody>
      </p:sp>
      <p:sp>
        <p:nvSpPr>
          <p:cNvPr id="117" name="Shape 115"/>
          <p:cNvSpPr/>
          <p:nvPr/>
        </p:nvSpPr>
        <p:spPr>
          <a:xfrm>
            <a:off x="6126480" y="3515868"/>
            <a:ext cx="256032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181344" y="3515868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nickel/food trader</a:t>
            </a:r>
            <a:endParaRPr lang="en-US" sz="720" dirty="0"/>
          </a:p>
        </p:txBody>
      </p:sp>
      <p:sp>
        <p:nvSpPr>
          <p:cNvPr id="119" name="Shape 117"/>
          <p:cNvSpPr/>
          <p:nvPr/>
        </p:nvSpPr>
        <p:spPr>
          <a:xfrm>
            <a:off x="457200" y="3758184"/>
            <a:ext cx="16916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2064" y="3758184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Shandong Xinhai</a:t>
            </a:r>
            <a:endParaRPr lang="en-US" sz="720" dirty="0"/>
          </a:p>
        </p:txBody>
      </p:sp>
      <p:sp>
        <p:nvSpPr>
          <p:cNvPr id="121" name="Shape 119"/>
          <p:cNvSpPr/>
          <p:nvPr/>
        </p:nvSpPr>
        <p:spPr>
          <a:xfrm>
            <a:off x="2148840" y="3758184"/>
            <a:ext cx="109728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203704" y="375818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Feifei Liu</a:t>
            </a:r>
            <a:endParaRPr lang="en-US" sz="720" dirty="0"/>
          </a:p>
        </p:txBody>
      </p:sp>
      <p:sp>
        <p:nvSpPr>
          <p:cNvPr id="123" name="Shape 121"/>
          <p:cNvSpPr/>
          <p:nvPr/>
        </p:nvSpPr>
        <p:spPr>
          <a:xfrm>
            <a:off x="3246120" y="3758184"/>
            <a:ext cx="182880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00984" y="3758184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xhmineral@ytxinhai.com</a:t>
            </a:r>
            <a:endParaRPr lang="en-US" sz="720" dirty="0"/>
          </a:p>
        </p:txBody>
      </p:sp>
      <p:sp>
        <p:nvSpPr>
          <p:cNvPr id="125" name="Shape 123"/>
          <p:cNvSpPr/>
          <p:nvPr/>
        </p:nvSpPr>
        <p:spPr>
          <a:xfrm>
            <a:off x="5074920" y="3758184"/>
            <a:ext cx="105156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29784" y="3758184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20" dirty="0"/>
          </a:p>
        </p:txBody>
      </p:sp>
      <p:sp>
        <p:nvSpPr>
          <p:cNvPr id="127" name="Shape 125"/>
          <p:cNvSpPr/>
          <p:nvPr/>
        </p:nvSpPr>
        <p:spPr>
          <a:xfrm>
            <a:off x="6126480" y="3758184"/>
            <a:ext cx="25603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181344" y="3758184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mineral trader</a:t>
            </a:r>
            <a:endParaRPr lang="en-US" sz="720" dirty="0"/>
          </a:p>
        </p:txBody>
      </p:sp>
      <p:sp>
        <p:nvSpPr>
          <p:cNvPr id="129" name="Shape 127"/>
          <p:cNvSpPr/>
          <p:nvPr/>
        </p:nvSpPr>
        <p:spPr>
          <a:xfrm>
            <a:off x="457200" y="4000500"/>
            <a:ext cx="169164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12064" y="4000500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DeLong Nickel</a:t>
            </a:r>
            <a:endParaRPr lang="en-US" sz="720" dirty="0"/>
          </a:p>
        </p:txBody>
      </p:sp>
      <p:sp>
        <p:nvSpPr>
          <p:cNvPr id="131" name="Shape 129"/>
          <p:cNvSpPr/>
          <p:nvPr/>
        </p:nvSpPr>
        <p:spPr>
          <a:xfrm>
            <a:off x="2148840" y="4000500"/>
            <a:ext cx="109728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203704" y="400050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Mats / Sales</a:t>
            </a:r>
            <a:endParaRPr lang="en-US" sz="720" dirty="0"/>
          </a:p>
        </p:txBody>
      </p:sp>
      <p:sp>
        <p:nvSpPr>
          <p:cNvPr id="133" name="Shape 131"/>
          <p:cNvSpPr/>
          <p:nvPr/>
        </p:nvSpPr>
        <p:spPr>
          <a:xfrm>
            <a:off x="3246120" y="4000500"/>
            <a:ext cx="182880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300984" y="4000500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rawmaterials@delonghi.com</a:t>
            </a:r>
            <a:endParaRPr lang="en-US" sz="720" dirty="0"/>
          </a:p>
        </p:txBody>
      </p:sp>
      <p:sp>
        <p:nvSpPr>
          <p:cNvPr id="135" name="Shape 133"/>
          <p:cNvSpPr/>
          <p:nvPr/>
        </p:nvSpPr>
        <p:spPr>
          <a:xfrm>
            <a:off x="5074920" y="4000500"/>
            <a:ext cx="105156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129784" y="4000500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</a:t>
            </a:r>
            <a:endParaRPr lang="en-US" sz="720" dirty="0"/>
          </a:p>
        </p:txBody>
      </p:sp>
      <p:sp>
        <p:nvSpPr>
          <p:cNvPr id="137" name="Shape 135"/>
          <p:cNvSpPr/>
          <p:nvPr/>
        </p:nvSpPr>
        <p:spPr>
          <a:xfrm>
            <a:off x="6126480" y="4000500"/>
            <a:ext cx="256032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181344" y="4000500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verify domain: dlnis.com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457200" y="4242816"/>
            <a:ext cx="16916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12064" y="4242816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Ore Limited (HK)</a:t>
            </a:r>
            <a:endParaRPr lang="en-US" sz="720" dirty="0"/>
          </a:p>
        </p:txBody>
      </p:sp>
      <p:sp>
        <p:nvSpPr>
          <p:cNvPr id="141" name="Shape 139"/>
          <p:cNvSpPr/>
          <p:nvPr/>
        </p:nvSpPr>
        <p:spPr>
          <a:xfrm>
            <a:off x="2148840" y="4242816"/>
            <a:ext cx="109728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203704" y="424281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Finch (MD)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3246120" y="4242816"/>
            <a:ext cx="182880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300984" y="4242816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edfinch@bulk-ore.com</a:t>
            </a:r>
            <a:endParaRPr lang="en-US" sz="720" dirty="0"/>
          </a:p>
        </p:txBody>
      </p:sp>
      <p:sp>
        <p:nvSpPr>
          <p:cNvPr id="145" name="Shape 143"/>
          <p:cNvSpPr/>
          <p:nvPr/>
        </p:nvSpPr>
        <p:spPr>
          <a:xfrm>
            <a:off x="5074920" y="4242816"/>
            <a:ext cx="105156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129784" y="4242816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20" dirty="0"/>
          </a:p>
        </p:txBody>
      </p:sp>
      <p:sp>
        <p:nvSpPr>
          <p:cNvPr id="147" name="Shape 145"/>
          <p:cNvSpPr/>
          <p:nvPr/>
        </p:nvSpPr>
        <p:spPr>
          <a:xfrm>
            <a:off x="6126480" y="4242816"/>
            <a:ext cx="25603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181344" y="4242816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HK niche trader, warm signal</a:t>
            </a:r>
            <a:endParaRPr lang="en-US" sz="720" dirty="0"/>
          </a:p>
        </p:txBody>
      </p:sp>
      <p:sp>
        <p:nvSpPr>
          <p:cNvPr id="149" name="Shape 147"/>
          <p:cNvSpPr/>
          <p:nvPr/>
        </p:nvSpPr>
        <p:spPr>
          <a:xfrm>
            <a:off x="457200" y="4485132"/>
            <a:ext cx="169164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12064" y="4485132"/>
            <a:ext cx="15819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 Metals</a:t>
            </a:r>
            <a:endParaRPr lang="en-US" sz="720" dirty="0"/>
          </a:p>
        </p:txBody>
      </p:sp>
      <p:sp>
        <p:nvSpPr>
          <p:cNvPr id="151" name="Shape 149"/>
          <p:cNvSpPr/>
          <p:nvPr/>
        </p:nvSpPr>
        <p:spPr>
          <a:xfrm>
            <a:off x="2148840" y="4485132"/>
            <a:ext cx="109728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203704" y="448513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720" dirty="0"/>
          </a:p>
        </p:txBody>
      </p:sp>
      <p:sp>
        <p:nvSpPr>
          <p:cNvPr id="153" name="Shape 151"/>
          <p:cNvSpPr/>
          <p:nvPr/>
        </p:nvSpPr>
        <p:spPr>
          <a:xfrm>
            <a:off x="3246120" y="4485132"/>
            <a:ext cx="182880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300984" y="4485132"/>
            <a:ext cx="171907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info@fortunemetals.com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5074920" y="4485132"/>
            <a:ext cx="105156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129784" y="4485132"/>
            <a:ext cx="941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</a:t>
            </a:r>
            <a:endParaRPr lang="en-US" sz="720" dirty="0"/>
          </a:p>
        </p:txBody>
      </p:sp>
      <p:sp>
        <p:nvSpPr>
          <p:cNvPr id="157" name="Shape 155"/>
          <p:cNvSpPr/>
          <p:nvPr/>
        </p:nvSpPr>
        <p:spPr>
          <a:xfrm>
            <a:off x="6126480" y="4485132"/>
            <a:ext cx="2560320" cy="2423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181344" y="4485132"/>
            <a:ext cx="24505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verify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457200" y="470001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0" name="Text 158"/>
          <p:cNvSpPr/>
          <p:nvPr/>
        </p:nvSpPr>
        <p:spPr>
          <a:xfrm>
            <a:off x="594360" y="4672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1463040" y="470001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2" name="Text 160"/>
          <p:cNvSpPr/>
          <p:nvPr/>
        </p:nvSpPr>
        <p:spPr>
          <a:xfrm>
            <a:off x="1600200" y="46725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Bounced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2377440" y="4700016"/>
            <a:ext cx="91440" cy="914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4" name="Text 162"/>
          <p:cNvSpPr/>
          <p:nvPr/>
        </p:nvSpPr>
        <p:spPr>
          <a:xfrm>
            <a:off x="2514600" y="46725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signal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Status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Deals | Close Dates | Risk Assessment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7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115568"/>
          <a:ext cx="2743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200400" y="1115568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15568"/>
            <a:ext cx="9144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1152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Tawi-Tawi Limonite Nickel Ore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166360" y="11521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37560" y="13533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outreach sent Apr 13-15. Tsingshan bounced — pivot to YNQSGT. Jinchuan Anson delivered.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3337560" y="15910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Generated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HIGH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3200400" y="1865376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1865376"/>
            <a:ext cx="9144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Ore Limited (HK)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166360" y="1901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37560" y="2103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Finch reacted to FCO — warm signal. Send formal FCO + DD checklist.</a:t>
            </a:r>
            <a:endParaRPr lang="en-US" sz="620" dirty="0"/>
          </a:p>
        </p:txBody>
      </p:sp>
      <p:sp>
        <p:nvSpPr>
          <p:cNvPr id="21" name="Text 18"/>
          <p:cNvSpPr/>
          <p:nvPr/>
        </p:nvSpPr>
        <p:spPr>
          <a:xfrm>
            <a:off x="3337560" y="234086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Contact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20" dirty="0"/>
          </a:p>
        </p:txBody>
      </p:sp>
      <p:sp>
        <p:nvSpPr>
          <p:cNvPr id="22" name="Shape 19"/>
          <p:cNvSpPr/>
          <p:nvPr/>
        </p:nvSpPr>
        <p:spPr>
          <a:xfrm>
            <a:off x="3200400" y="2615184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2615184"/>
            <a:ext cx="9144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37560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Goodfound Cement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166360" y="26517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337560" y="28529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 Ongoing negotiation.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3337560" y="30906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20" dirty="0"/>
          </a:p>
        </p:txBody>
      </p:sp>
      <p:sp>
        <p:nvSpPr>
          <p:cNvPr id="28" name="Shape 25"/>
          <p:cNvSpPr/>
          <p:nvPr/>
        </p:nvSpPr>
        <p:spPr>
          <a:xfrm>
            <a:off x="3200400" y="3364992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0" y="3364992"/>
            <a:ext cx="9144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3756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Republic Cement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166360" y="34015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337560" y="3602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</a:t>
            </a:r>
            <a:endParaRPr lang="en-US" sz="620" dirty="0"/>
          </a:p>
        </p:txBody>
      </p:sp>
      <p:sp>
        <p:nvSpPr>
          <p:cNvPr id="33" name="Text 30"/>
          <p:cNvSpPr/>
          <p:nvPr/>
        </p:nvSpPr>
        <p:spPr>
          <a:xfrm>
            <a:off x="3337560" y="38404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20" dirty="0"/>
          </a:p>
        </p:txBody>
      </p:sp>
      <p:sp>
        <p:nvSpPr>
          <p:cNvPr id="34" name="Shape 31"/>
          <p:cNvSpPr/>
          <p:nvPr/>
        </p:nvSpPr>
        <p:spPr>
          <a:xfrm>
            <a:off x="3200400" y="4114800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00400" y="4114800"/>
            <a:ext cx="9144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37560" y="4151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Mabuhay Filcement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166360" y="41513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337560" y="43525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</a:t>
            </a:r>
            <a:endParaRPr lang="en-US" sz="620" dirty="0"/>
          </a:p>
        </p:txBody>
      </p:sp>
      <p:sp>
        <p:nvSpPr>
          <p:cNvPr id="39" name="Text 36"/>
          <p:cNvSpPr/>
          <p:nvPr/>
        </p:nvSpPr>
        <p:spPr>
          <a:xfrm>
            <a:off x="3337560" y="45902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172200" y="1115568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172200" y="1115568"/>
            <a:ext cx="9144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09360" y="1152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Philcement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8138160" y="11521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309360" y="13533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</a:t>
            </a:r>
            <a:endParaRPr lang="en-US" sz="620" dirty="0"/>
          </a:p>
        </p:txBody>
      </p:sp>
      <p:sp>
        <p:nvSpPr>
          <p:cNvPr id="45" name="Text 42"/>
          <p:cNvSpPr/>
          <p:nvPr/>
        </p:nvSpPr>
        <p:spPr>
          <a:xfrm>
            <a:off x="6309360" y="15910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20" dirty="0"/>
          </a:p>
        </p:txBody>
      </p:sp>
      <p:sp>
        <p:nvSpPr>
          <p:cNvPr id="46" name="Shape 43"/>
          <p:cNvSpPr/>
          <p:nvPr/>
        </p:nvSpPr>
        <p:spPr>
          <a:xfrm>
            <a:off x="6172200" y="1865376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172200" y="1865376"/>
            <a:ext cx="9144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0936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Suprea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138160" y="1901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6309360" y="2103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</a:t>
            </a:r>
            <a:endParaRPr lang="en-US" sz="620" dirty="0"/>
          </a:p>
        </p:txBody>
      </p:sp>
      <p:sp>
        <p:nvSpPr>
          <p:cNvPr id="51" name="Text 48"/>
          <p:cNvSpPr/>
          <p:nvPr/>
        </p:nvSpPr>
        <p:spPr>
          <a:xfrm>
            <a:off x="6309360" y="234086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20" dirty="0"/>
          </a:p>
        </p:txBody>
      </p:sp>
      <p:sp>
        <p:nvSpPr>
          <p:cNvPr id="52" name="Shape 49"/>
          <p:cNvSpPr/>
          <p:nvPr/>
        </p:nvSpPr>
        <p:spPr>
          <a:xfrm>
            <a:off x="6172200" y="2615184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172200" y="2615184"/>
            <a:ext cx="9144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09360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Ore — JX Adv. Metals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8138160" y="26517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309360" y="28529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Negotiation this week.</a:t>
            </a:r>
            <a:endParaRPr lang="en-US" sz="620" dirty="0"/>
          </a:p>
        </p:txBody>
      </p:sp>
      <p:sp>
        <p:nvSpPr>
          <p:cNvPr id="57" name="Text 54"/>
          <p:cNvSpPr/>
          <p:nvPr/>
        </p:nvSpPr>
        <p:spPr>
          <a:xfrm>
            <a:off x="6309360" y="30906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Contact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20" dirty="0"/>
          </a:p>
        </p:txBody>
      </p:sp>
      <p:sp>
        <p:nvSpPr>
          <p:cNvPr id="58" name="Shape 55"/>
          <p:cNvSpPr/>
          <p:nvPr/>
        </p:nvSpPr>
        <p:spPr>
          <a:xfrm>
            <a:off x="6172200" y="3364992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172200" y="3364992"/>
            <a:ext cx="91440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0936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— CEDC (MGEN)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8138160" y="34015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6309360" y="3602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RZH proposed May 6 formal presentation. Awaiting confirmation.</a:t>
            </a:r>
            <a:endParaRPr lang="en-US" sz="620" dirty="0"/>
          </a:p>
        </p:txBody>
      </p:sp>
      <p:sp>
        <p:nvSpPr>
          <p:cNvPr id="63" name="Text 60"/>
          <p:cNvSpPr/>
          <p:nvPr/>
        </p:nvSpPr>
        <p:spPr>
          <a:xfrm>
            <a:off x="6309360" y="38404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Proposed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6, 2026</a:t>
            </a:r>
            <a:r>
              <a:rPr lang="en-US" sz="6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2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LOW</a:t>
            </a:r>
            <a:endParaRPr lang="en-US" sz="620" dirty="0"/>
          </a:p>
        </p:txBody>
      </p:sp>
      <p:sp>
        <p:nvSpPr>
          <p:cNvPr id="64" name="Shape 61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66928" y="4590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PIPELINE: </a:t>
            </a:r>
            <a:r>
              <a:rPr lang="en-US" sz="7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$35M+ 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Nickel: $30M (China) + $10M Bulk Ore  |  Diesel: ~$1.8M  |  Copper: $5M  |  Near-term: May 6 (Coal) + May 15 (Diesel)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HubSpot CRM — Monthly Buildout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Contacts | 50 Companies | 17 Entity Cards | Organized by Segment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109728" cy="6309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46304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GNPD, Pagbilao, SMC GP, CEDC, KEPCO SPC, SPC, Aboitiz, etc.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858000" y="1243584"/>
            <a:ext cx="16916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2435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 Plants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10512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810512"/>
            <a:ext cx="109728" cy="6309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883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PLANTS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157984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Cement, Taiheiyo, Mabuhay, Philcement, Republic, etc.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0" y="1938528"/>
            <a:ext cx="16916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Plants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05456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05456"/>
            <a:ext cx="109728" cy="63093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85292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Tsingshan, Lygend, Jinchuan, Baosteel, TISCO, Huayou, CITIC, Bulk Ore, etc.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58000" y="2633472"/>
            <a:ext cx="169164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 Contacts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00400"/>
            <a:ext cx="109728" cy="630936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/ SMELTING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54787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Nickel Asia, GMetal, Eramen, Sumitomo, QMB — diesel buyers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58000" y="3328416"/>
            <a:ext cx="1691640" cy="3657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3284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Accounts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95344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895344"/>
            <a:ext cx="109728" cy="63093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968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/ OTHER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24281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for future engagement — not yet active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58000" y="4023360"/>
            <a:ext cx="169164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Accounts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590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CARDS GENERATED: </a:t>
            </a:r>
            <a:r>
              <a:rPr lang="en-US" sz="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Power Plant cards 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~/Documents/Obsidian Vault/Power Plants/  |  Markdown format  |  Ready for meeting prep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Plan — May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| This Week | Scheduled | Ongoing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05740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5389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Nickel Follow-up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0352" y="169164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Tsingshan YNQSGT + Jinchuan Anson Wong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30352" y="18562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57200" y="2221992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5856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Apo Cement lab results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249631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| Chai Sibal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30352" y="266090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7200" y="3026664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063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Aboitiz Vendor Portal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330098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aci.scmd@aboitiz.com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30352" y="346557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57200" y="3831336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679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May 6 CEDC meeting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0352" y="410565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jrrhisoler@mgen.com.ph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30352" y="427024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633472" y="1115568"/>
            <a:ext cx="20574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11155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33472" y="1417320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6624" y="145389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SMC Global Power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06624" y="169164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Masinloc + Malita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06624" y="18562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633472" y="2221992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6624" y="225856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GNPD — F. Bordeos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06624" y="249631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res-info@gnpower.com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706624" y="266090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633472" y="3026664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06624" y="3063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KEPCO SPC — M. Salinas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06624" y="330098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melanie.salinas@kepcospc.com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706624" y="346557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633472" y="3831336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06624" y="38679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Diesel deals — May 15 close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706624" y="410565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Goodfound/Republic/Mabuhay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706624" y="427024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follow-up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809744" y="1115568"/>
            <a:ext cx="20574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11155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09744" y="1417320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145389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presentation to CEDC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882896" y="169164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Hisoler / MGEN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882896" y="18562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6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4809744" y="2221992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82896" y="225856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Apo Cement post-lab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82896" y="249631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+ Chai Sibal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882896" y="266090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7-9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809744" y="3026664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82896" y="3063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GNPower Kauswagan outreach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882896" y="330098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Donna Mezo / gnpres@gnpower.com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882896" y="346557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7-9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809744" y="3831336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82896" y="38679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Ore FCO + DD Checklist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882896" y="410565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Finch / edfinch@bulk-ore.com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882896" y="427024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7-9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6986016" y="1115568"/>
            <a:ext cx="2057400" cy="30175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86016" y="11155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986016" y="1417320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59168" y="145389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Copper / JX to Negotiation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059168" y="169164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purchase@jmm.co.jp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7059168" y="18562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6986016" y="2221992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59168" y="225856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Alsons Power contact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059168" y="249631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Sarangani Energy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059168" y="266090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986016" y="3026664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59168" y="3063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Nickel bounce follow-up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059168" y="330098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Baosteel / DeLong / Fortune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059168" y="346557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ECONARES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29260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REPORT — APRIL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Contacts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79192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79192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Profiled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55464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$35M+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55464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Value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31736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31736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8138160" cy="0"/>
          </a:xfrm>
          <a:prstGeom prst="line">
            <a:avLst/>
          </a:prstGeom>
          <a:noFill/>
          <a:ln w="12700">
            <a:solidFill>
              <a:srgbClr val="2D4A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Focus: </a:t>
            </a: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Nickel follow-up ($30M pipeline)  |  Coal outreach to CEDC, GNPD, SMC Global, KEPCO SPC  |  Unblock Apo Cement PKS deal  |  Close Diesel contracts by May 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Reymarr Zamora Hijara
</a:t>
            </a: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Marketing Officer | ECONARES
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rzh24.econares@gmail.com  |  +63 927 872 5194
WhatsApp  |  Telegram  |  Viber  |  WeChat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2743200"/>
            <a:ext cx="2926080" cy="2926080"/>
          </a:xfrm>
          <a:prstGeom prst="ellipse">
            <a:avLst/>
          </a:prstGeom>
          <a:solidFill>
            <a:srgbClr val="1B263B">
              <a:alpha val="45000"/>
            </a:srgbClr>
          </a:solidFill>
          <a:ln w="25400">
            <a:solidFill>
              <a:srgbClr val="2D4A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200400"/>
            <a:ext cx="2011680" cy="201168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2411</Words>
  <Application>Microsoft Office PowerPoint</Application>
  <PresentationFormat>On-screen Show (16:9)</PresentationFormat>
  <Paragraphs>493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ECONARES Monthly Sales Report — April 2026</dc:title>
  <dc:subject>Monthly Sales Report — April 2026</dc:subject>
  <dc:creator>Reymarr Hijara</dc:creator>
  <cp:lastModifiedBy>Reymarr Hijara (Shared)</cp:lastModifiedBy>
  <cp:revision>3</cp:revision>
  <dcterms:created xsi:type="dcterms:W3CDTF">2026-04-29T22:57:00Z</dcterms:created>
  <dcterms:modified xsi:type="dcterms:W3CDTF">2026-04-29T23:22:23Z</dcterms:modified>
</cp:coreProperties>
</file>